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7F9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Negative</c:v>
                  </c:pt>
                  <c:pt idx="1">
                    <c:v>Positive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97150</c:v>
                </c:pt>
                <c:pt idx="1">
                  <c:v>38725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A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Dialects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1B7F9E"/>
              </a:solidFill>
              <a:effectLst/>
            </c:spPr>
          </c:dPt>
          <c:dPt>
            <c:idx val="2"/>
            <c:bubble3D val="0"/>
            <c:spPr>
              <a:solidFill>
                <a:srgbClr val="F4A928"/>
              </a:solidFill>
              <a:effectLst/>
            </c:spPr>
          </c:dPt>
          <c:dPt>
            <c:idx val="3"/>
            <c:bubble3D val="0"/>
            <c:spPr>
              <a:solidFill>
                <a:srgbClr val="0D1B2A"/>
              </a:solidFill>
              <a:effectLst/>
            </c:spPr>
          </c:dPt>
          <c:dPt>
            <c:idx val="4"/>
            <c:bubble3D val="0"/>
            <c:spPr>
              <a:solidFill>
                <a:srgbClr val="22A6C8"/>
              </a:solidFill>
              <a:effectLst/>
            </c:spPr>
          </c:dPt>
          <c:dPt>
            <c:idx val="5"/>
            <c:bubble3D val="0"/>
            <c:spPr>
              <a:solidFill>
                <a:srgbClr val="7A8FA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Egyptian</c:v>
                </c:pt>
                <c:pt idx="1">
                  <c:v>Iraqi</c:v>
                </c:pt>
                <c:pt idx="2">
                  <c:v>Algerian</c:v>
                </c:pt>
                <c:pt idx="3">
                  <c:v>Saudi</c:v>
                </c:pt>
                <c:pt idx="4">
                  <c:v>Levantine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22</c:v>
                </c:pt>
                <c:pt idx="1">
                  <c:v>18</c:v>
                </c:pt>
                <c:pt idx="2">
                  <c:v>14</c:v>
                </c:pt>
                <c:pt idx="3">
                  <c:v>13</c:v>
                </c:pt>
                <c:pt idx="4">
                  <c:v>12</c:v>
                </c:pt>
                <c:pt idx="5">
                  <c:v>21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Macro F1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7A8F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8F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8F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8F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7F9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LR</c:v>
                  </c:pt>
                  <c:pt idx="1">
                    <c:v>SVM</c:v>
                  </c:pt>
                  <c:pt idx="2">
                    <c:v>BiLSTM</c:v>
                  </c:pt>
                  <c:pt idx="3">
                    <c:v>Transformer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71.43</c:v>
                </c:pt>
                <c:pt idx="1">
                  <c:v>69.6</c:v>
                </c:pt>
                <c:pt idx="2">
                  <c:v>49.26</c:v>
                </c:pt>
                <c:pt idx="3">
                  <c:v>72.83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A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4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9E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5720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23444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01168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278892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356616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34340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56032"/>
            <a:ext cx="3200400" cy="384048"/>
          </a:xfrm>
          <a:prstGeom prst="rect">
            <a:avLst/>
          </a:prstGeom>
          <a:solidFill>
            <a:srgbClr val="1B7F9E">
              <a:alpha val="70000"/>
            </a:srgbClr>
          </a:solidFill>
          <a:ln w="12700">
            <a:solidFill>
              <a:srgbClr val="22A6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560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Sattam bin Abdulaziz University  ·  Master of Data Science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0040" y="9601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Arabic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20040" y="166420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100" kern="0" dirty="0">
                <a:solidFill>
                  <a:srgbClr val="F4A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20040" y="23774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2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YouTube Comments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" y="3063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Labeling  ·  Transformer Fine-Tuning  ·  CAMeLBERT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B7F9E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4434840"/>
            <a:ext cx="859536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Abdulrahman Fahd bin Hulail  ·  ID: 446540102  ·  Text Mining IS 0661  ·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474720"/>
          </a:xfrm>
          <a:prstGeom prst="rect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❶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Scarcity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242316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~16K of 138K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were labeled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far too few for DL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005840"/>
            <a:ext cx="274320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0972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❷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29000" y="1828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Dialectal Arabic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42316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Saudi, Egyptian, Gulf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Levantine dialects have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sentiment cues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005840"/>
            <a:ext cx="2743200" cy="3474720"/>
          </a:xfrm>
          <a:prstGeom prst="rect">
            <a:avLst/>
          </a:prstGeom>
          <a:solidFill>
            <a:srgbClr val="F4A928"/>
          </a:solidFill>
          <a:ln w="12700">
            <a:solidFill>
              <a:srgbClr val="F4A9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0972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❸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92240" y="1828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Complexity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242316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diacritics, heavy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dependency,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richness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017520" y="2743200"/>
            <a:ext cx="320040" cy="0"/>
          </a:xfrm>
          <a:prstGeom prst="line">
            <a:avLst/>
          </a:prstGeom>
          <a:noFill/>
          <a:ln w="25400">
            <a:solidFill>
              <a:srgbClr val="7A8F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2743200"/>
            <a:ext cx="320040" cy="0"/>
          </a:xfrm>
          <a:prstGeom prst="line">
            <a:avLst/>
          </a:prstGeom>
          <a:noFill/>
          <a:ln w="25400">
            <a:solidFill>
              <a:srgbClr val="7A8F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22A6C8">
              <a:alpha val="75000"/>
            </a:srgbClr>
          </a:solidFill>
          <a:ln w="12700">
            <a:solidFill>
              <a:srgbClr val="22A6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Solution: Automate labeling with LLMs, then fine-tune a dialect-aware transformer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1417320" cy="2743200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2940" y="11430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8FA6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" y="1691640"/>
            <a:ext cx="12710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Excel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56032" y="2423160"/>
            <a:ext cx="12710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~138K comments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scrapes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18488" y="2423160"/>
            <a:ext cx="118872" cy="0"/>
          </a:xfrm>
          <a:prstGeom prst="line">
            <a:avLst/>
          </a:prstGeom>
          <a:noFill/>
          <a:ln w="31750">
            <a:solidFill>
              <a:srgbClr val="0D1B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55648" y="1051560"/>
            <a:ext cx="1417320" cy="2743200"/>
          </a:xfrm>
          <a:prstGeom prst="rect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35708" y="11430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35708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7F9E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28800" y="1691640"/>
            <a:ext cx="12710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Labels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828800" y="2423160"/>
            <a:ext cx="12710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API · 3 hrs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91256" y="2423160"/>
            <a:ext cx="118872" cy="0"/>
          </a:xfrm>
          <a:prstGeom prst="line">
            <a:avLst/>
          </a:prstGeom>
          <a:noFill/>
          <a:ln w="31750">
            <a:solidFill>
              <a:srgbClr val="0D1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28416" y="1051560"/>
            <a:ext cx="1417320" cy="2743200"/>
          </a:xfrm>
          <a:prstGeom prst="rect">
            <a:avLst/>
          </a:prstGeom>
          <a:solidFill>
            <a:srgbClr val="22A6C8"/>
          </a:solidFill>
          <a:ln w="12700">
            <a:solidFill>
              <a:srgbClr val="22A6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08476" y="11430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08476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A6C8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01568" y="1691640"/>
            <a:ext cx="12710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401568" y="2423160"/>
            <a:ext cx="12710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De-diacritize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· Tokenize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64024" y="2423160"/>
            <a:ext cx="118872" cy="0"/>
          </a:xfrm>
          <a:prstGeom prst="line">
            <a:avLst/>
          </a:prstGeom>
          <a:noFill/>
          <a:ln w="31750">
            <a:solidFill>
              <a:srgbClr val="0D1B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01184" y="1051560"/>
            <a:ext cx="1417320" cy="2743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81244" y="11430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81244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74336" y="1691640"/>
            <a:ext cx="12710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CAMeLBERT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974336" y="2423160"/>
            <a:ext cx="12710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· AdamW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 Epoch 7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36792" y="2423160"/>
            <a:ext cx="118872" cy="0"/>
          </a:xfrm>
          <a:prstGeom prst="line">
            <a:avLst/>
          </a:prstGeom>
          <a:noFill/>
          <a:ln w="31750">
            <a:solidFill>
              <a:srgbClr val="0D1B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73952" y="1051560"/>
            <a:ext cx="1417320" cy="2743200"/>
          </a:xfrm>
          <a:prstGeom prst="rect">
            <a:avLst/>
          </a:prstGeom>
          <a:solidFill>
            <a:srgbClr val="F4A928"/>
          </a:solidFill>
          <a:ln w="12700">
            <a:solidFill>
              <a:srgbClr val="F4A9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54012" y="11430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54012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928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47104" y="1691640"/>
            <a:ext cx="12710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Analysis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47104" y="2423160"/>
            <a:ext cx="12710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Macro-F1: 72.83%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76.38%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82880" y="4023360"/>
            <a:ext cx="877824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F4A9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4023360"/>
            <a:ext cx="868680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Quality Gate: Labels with confidence &lt; 0.75 were automatically excluded to avoid training on noisy annotations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1463040"/>
          </a:xfrm>
          <a:prstGeom prst="rect">
            <a:avLst/>
          </a:prstGeom>
          <a:solidFill>
            <a:srgbClr val="0D1B2A"/>
          </a:solidFill>
          <a:ln w="19050">
            <a:solidFill>
              <a:srgbClr val="1B7F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A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138K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17190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914400"/>
            <a:ext cx="1920240" cy="1463040"/>
          </a:xfrm>
          <a:prstGeom prst="rect">
            <a:avLst/>
          </a:prstGeom>
          <a:solidFill>
            <a:srgbClr val="0D1B2A"/>
          </a:solidFill>
          <a:ln w="19050">
            <a:solidFill>
              <a:srgbClr val="1B7F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9601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A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468880" y="17190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1920240" cy="1463040"/>
          </a:xfrm>
          <a:prstGeom prst="rect">
            <a:avLst/>
          </a:prstGeom>
          <a:solidFill>
            <a:srgbClr val="0D1B2A"/>
          </a:solidFill>
          <a:ln w="19050">
            <a:solidFill>
              <a:srgbClr val="1B7F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9601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A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hrs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63440" y="17190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914400"/>
            <a:ext cx="1920240" cy="1463040"/>
          </a:xfrm>
          <a:prstGeom prst="rect">
            <a:avLst/>
          </a:prstGeom>
          <a:solidFill>
            <a:srgbClr val="0D1B2A"/>
          </a:solidFill>
          <a:ln w="19050">
            <a:solidFill>
              <a:srgbClr val="1B7F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9601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A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858000" y="17190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25420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Distribution After LLM Annotation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274320" y="2907792"/>
          <a:ext cx="402336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4663440" y="254203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Dialects in Dataset</a:t>
            </a:r>
            <a:endParaRPr lang="en-US" sz="1200" dirty="0"/>
          </a:p>
        </p:txBody>
      </p:sp>
      <p:graphicFrame>
        <p:nvGraphicFramePr>
          <p:cNvPr id="19" name="Chart 1" descr=""/>
          <p:cNvGraphicFramePr/>
          <p:nvPr/>
        </p:nvGraphicFramePr>
        <p:xfrm>
          <a:off x="4663440" y="2907792"/>
          <a:ext cx="4206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43200" cy="475488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Comment Input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737360" y="1389888"/>
            <a:ext cx="0" cy="18288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72768"/>
            <a:ext cx="2743200" cy="475488"/>
          </a:xfrm>
          <a:prstGeom prst="rect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7276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737360" y="2048256"/>
            <a:ext cx="0" cy="18288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231136"/>
            <a:ext cx="27432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3113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CAMeLBERT-Mix Encoder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737360" y="2706624"/>
            <a:ext cx="0" cy="18288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889504"/>
            <a:ext cx="2743200" cy="475488"/>
          </a:xfrm>
          <a:prstGeom prst="rect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8950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Token → Mean Pooling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737360" y="3364992"/>
            <a:ext cx="0" cy="18288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547872"/>
            <a:ext cx="2743200" cy="475488"/>
          </a:xfrm>
          <a:prstGeom prst="rect">
            <a:avLst/>
          </a:prstGeom>
          <a:solidFill>
            <a:srgbClr val="22A6C8"/>
          </a:solidFill>
          <a:ln w="12700">
            <a:solidFill>
              <a:srgbClr val="22A6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4787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Layer  →  Sigmoid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737360" y="4023360"/>
            <a:ext cx="0" cy="18288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4206240"/>
            <a:ext cx="2743200" cy="475488"/>
          </a:xfrm>
          <a:prstGeom prst="rect">
            <a:avLst/>
          </a:prstGeom>
          <a:solidFill>
            <a:srgbClr val="F4A928"/>
          </a:solidFill>
          <a:ln w="12700">
            <a:solidFill>
              <a:srgbClr val="F4A9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20624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Negative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0" y="91440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F9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749040" y="1005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CAMeLBERT-Mix?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794760" y="1527048"/>
            <a:ext cx="256032" cy="256032"/>
          </a:xfrm>
          <a:prstGeom prst="ellipse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15270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0" y="1508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40680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every word against every other — context-aware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794760" y="2130552"/>
            <a:ext cx="256032" cy="256032"/>
          </a:xfrm>
          <a:prstGeom prst="ellipse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94760" y="2130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0" y="21122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 Pre-training  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40680" y="211226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MSA + Gulf + Egyptian + Levantine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794760" y="2734056"/>
            <a:ext cx="256032" cy="256032"/>
          </a:xfrm>
          <a:prstGeom prst="ellipse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94760" y="27340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14800" y="27157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Sub-word Tokenizer  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40680" y="27157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morphological agglutination in Arabic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794760" y="3337560"/>
            <a:ext cx="256032" cy="256032"/>
          </a:xfrm>
          <a:prstGeom prst="ellipse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94760" y="3337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0" y="33192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 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40680" y="33192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Combats 71%/29% class imbalance — focuses on hard cases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794760" y="3941064"/>
            <a:ext cx="256032" cy="256032"/>
          </a:xfrm>
          <a:prstGeom prst="ellipse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94760" y="39410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114800" y="39227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pooling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40680" y="392277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vector summarizes full comment semantics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Model Comparison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22860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371600"/>
                <a:gridCol w="26517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Macro F1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Weighted F1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Note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A36"/>
                          </a:solidFill>
                        </a:rPr>
                        <a:t>TF-IDF + LR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36"/>
                          </a:solidFill>
                        </a:rPr>
                        <a:t>79.92%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36"/>
                          </a:solidFill>
                        </a:rPr>
                        <a:t>71.43%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36"/>
                          </a:solidFill>
                        </a:rPr>
                        <a:t>78.13%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36"/>
                          </a:solidFill>
                        </a:rPr>
                        <a:t>Overfits majority class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A36"/>
                          </a:solidFill>
                        </a:rPr>
                        <a:t>TF-IDF + SVM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36"/>
                          </a:solidFill>
                        </a:rPr>
                        <a:t>79.35%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36"/>
                          </a:solidFill>
                        </a:rPr>
                        <a:t>69.60%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36"/>
                          </a:solidFill>
                        </a:rPr>
                        <a:t>77.01%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36"/>
                          </a:solidFill>
                        </a:rPr>
                        <a:t>Overfits majority class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A36"/>
                          </a:solidFill>
                        </a:rPr>
                        <a:t>BiLSTM (baseline)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36"/>
                          </a:solidFill>
                        </a:rPr>
                        <a:t>40.04%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36"/>
                          </a:solidFill>
                        </a:rPr>
                        <a:t>49.26%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36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A36"/>
                          </a:solidFill>
                        </a:rPr>
                        <a:t>Severely underfit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★ CAMeLBERT (ours)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76.38%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72.83%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77.00%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Best semantic understanding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9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383280"/>
            <a:ext cx="41148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7F9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11480" y="3474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385876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Accuracy is misleading on imbalanced data.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is the honest metric — the transformer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all baselines on balanced class scoring.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663440" y="3291840"/>
          <a:ext cx="429768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— Where the Model Fails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09728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10515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Sarcasm &amp; Irony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"By God you are creative, your explanation brings disease"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43000" y="176479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fails: Contains positive word → model predicted Positive. True label: Negative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286000"/>
            <a:ext cx="109728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231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🗣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143000" y="23774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Dialectal Idioms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432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"Oh man, it's early for you" (Saudi slang)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43000" y="309067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fails: Means 'You are not good enough yet' — no explicit negative words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11880"/>
            <a:ext cx="109728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490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143000" y="3703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Sentiment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0690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"References obscure historical event without adjectives"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43000" y="441655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fails: Model lacks world knowledge to infer polarity from context alone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7F9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4A92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931920" cy="3566160"/>
          </a:xfrm>
          <a:prstGeom prst="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1B7F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Was Achieved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138K comments auto-labeled in 3 hours using Gemini Batch API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22199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CAMeLBERT fine-tuned with Focal Loss to handle class imbalance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93522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72.83% — best across all models tested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64845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error analysis identifying sarcasm, idioms &amp; implicit sentiment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960120"/>
            <a:ext cx="3931920" cy="3566160"/>
          </a:xfrm>
          <a:prstGeom prst="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F4A9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0515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Future Work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15087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Sarcasm-aware training with conversational context windows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222199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learning: Dialect ID as auxiliary objective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293522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multi-class sentiment (beyond binary)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364845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real-time YouTube comment moderation API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4681728"/>
            <a:ext cx="4572000" cy="347472"/>
          </a:xfrm>
          <a:prstGeom prst="rect">
            <a:avLst/>
          </a:prstGeom>
          <a:solidFill>
            <a:srgbClr val="1B7F9E">
              <a:alpha val="80000"/>
            </a:srgbClr>
          </a:solidFill>
          <a:ln w="12700">
            <a:solidFill>
              <a:srgbClr val="22A6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468172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github.com/AbdulrhmanFahd/text-minig-project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Sentiment Analysis – Text Mining IS 0661</dc:title>
  <dc:subject>PptxGenJS Presentation</dc:subject>
  <dc:creator>Abdulrahman Fahd bin Hulail</dc:creator>
  <cp:lastModifiedBy>Abdulrahman Fahd bin Hulail</cp:lastModifiedBy>
  <cp:revision>1</cp:revision>
  <dcterms:created xsi:type="dcterms:W3CDTF">2026-05-13T13:04:48Z</dcterms:created>
  <dcterms:modified xsi:type="dcterms:W3CDTF">2026-05-13T13:04:48Z</dcterms:modified>
</cp:coreProperties>
</file>